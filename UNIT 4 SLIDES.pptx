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81" r:id="rId24"/>
    <p:sldId id="282" r:id="rId25"/>
    <p:sldId id="283" r:id="rId26"/>
    <p:sldId id="284" r:id="rId27"/>
    <p:sldId id="285" r:id="rId28"/>
    <p:sldId id="278" r:id="rId29"/>
    <p:sldId id="279" r:id="rId30"/>
    <p:sldId id="280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D319-C7C5-435A-99D6-2BCE4F8FB699}" type="datetimeFigureOut">
              <a:rPr lang="en-US" smtClean="0"/>
              <a:pPr/>
              <a:t>11/29/2019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2D6A-2530-468D-AF33-3A4CE047A5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D319-C7C5-435A-99D6-2BCE4F8FB699}" type="datetimeFigureOut">
              <a:rPr lang="en-US" smtClean="0"/>
              <a:pPr/>
              <a:t>11/29/2019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2D6A-2530-468D-AF33-3A4CE047A5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D319-C7C5-435A-99D6-2BCE4F8FB699}" type="datetimeFigureOut">
              <a:rPr lang="en-US" smtClean="0"/>
              <a:pPr/>
              <a:t>11/29/2019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2D6A-2530-468D-AF33-3A4CE047A5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D319-C7C5-435A-99D6-2BCE4F8FB699}" type="datetimeFigureOut">
              <a:rPr lang="en-US" smtClean="0"/>
              <a:pPr/>
              <a:t>11/29/2019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2D6A-2530-468D-AF33-3A4CE047A5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D319-C7C5-435A-99D6-2BCE4F8FB699}" type="datetimeFigureOut">
              <a:rPr lang="en-US" smtClean="0"/>
              <a:pPr/>
              <a:t>11/29/2019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2D6A-2530-468D-AF33-3A4CE047A5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D319-C7C5-435A-99D6-2BCE4F8FB699}" type="datetimeFigureOut">
              <a:rPr lang="en-US" smtClean="0"/>
              <a:pPr/>
              <a:t>11/29/2019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2D6A-2530-468D-AF33-3A4CE047A5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D319-C7C5-435A-99D6-2BCE4F8FB699}" type="datetimeFigureOut">
              <a:rPr lang="en-US" smtClean="0"/>
              <a:pPr/>
              <a:t>11/29/2019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2D6A-2530-468D-AF33-3A4CE047A5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D319-C7C5-435A-99D6-2BCE4F8FB699}" type="datetimeFigureOut">
              <a:rPr lang="en-US" smtClean="0"/>
              <a:pPr/>
              <a:t>11/29/2019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2D6A-2530-468D-AF33-3A4CE047A5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D319-C7C5-435A-99D6-2BCE4F8FB699}" type="datetimeFigureOut">
              <a:rPr lang="en-US" smtClean="0"/>
              <a:pPr/>
              <a:t>11/29/2019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2D6A-2530-468D-AF33-3A4CE047A5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D319-C7C5-435A-99D6-2BCE4F8FB699}" type="datetimeFigureOut">
              <a:rPr lang="en-US" smtClean="0"/>
              <a:pPr/>
              <a:t>11/29/2019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2D6A-2530-468D-AF33-3A4CE047A5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D319-C7C5-435A-99D6-2BCE4F8FB699}" type="datetimeFigureOut">
              <a:rPr lang="en-US" smtClean="0"/>
              <a:pPr/>
              <a:t>11/29/2019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C2D6A-2530-468D-AF33-3A4CE047A5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1D319-C7C5-435A-99D6-2BCE4F8FB699}" type="datetimeFigureOut">
              <a:rPr lang="en-US" smtClean="0"/>
              <a:pPr/>
              <a:t>11/29/2019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C2D6A-2530-468D-AF33-3A4CE047A5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Multimedia</a:t>
            </a:r>
            <a:br>
              <a:rPr lang="en-US" dirty="0" smtClean="0"/>
            </a:br>
            <a:r>
              <a:rPr lang="en-US" dirty="0" smtClean="0"/>
              <a:t>Unit 4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for web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Text for Web pages will generally follow the aforementioned guidelines for </a:t>
            </a:r>
          </a:p>
          <a:p>
            <a:pPr lvl="1"/>
            <a:r>
              <a:rPr lang="en-US" dirty="0" smtClean="0"/>
              <a:t>Words</a:t>
            </a:r>
          </a:p>
          <a:p>
            <a:pPr lvl="1"/>
            <a:r>
              <a:rPr lang="en-US" dirty="0" smtClean="0"/>
              <a:t>Error Messages</a:t>
            </a:r>
          </a:p>
          <a:p>
            <a:pPr lvl="1"/>
            <a:r>
              <a:rPr lang="en-US" dirty="0" smtClean="0"/>
              <a:t>Instructions</a:t>
            </a:r>
          </a:p>
          <a:p>
            <a:pPr lvl="1"/>
            <a:r>
              <a:rPr lang="en-US" dirty="0" smtClean="0"/>
              <a:t>Text</a:t>
            </a:r>
          </a:p>
          <a:p>
            <a:pPr lvl="1"/>
            <a:r>
              <a:rPr lang="en-US" dirty="0" smtClean="0"/>
              <a:t>Links</a:t>
            </a:r>
          </a:p>
          <a:p>
            <a:pPr lvl="1"/>
            <a:r>
              <a:rPr lang="en-US" dirty="0" smtClean="0"/>
              <a:t>Page Title</a:t>
            </a:r>
          </a:p>
          <a:p>
            <a:pPr lvl="1"/>
            <a:r>
              <a:rPr lang="en-US" dirty="0" smtClean="0"/>
              <a:t>Headings and Headlines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1" algn="ctr"/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Words , Error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8307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Words: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Minimize the use of words that call attention to the Web.</a:t>
            </a:r>
          </a:p>
          <a:p>
            <a:pPr marL="342900" lvl="1" indent="-342900">
              <a:buNone/>
            </a:pPr>
            <a:r>
              <a:rPr lang="en-US" dirty="0" smtClean="0"/>
              <a:t>Error Messages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■ Provide helpful error messages for: 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— Incomplete or incorrectly keyed, entered, or selected data. 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— Requests for documents that do not exist or cannot be found. 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■ Redisplay a message on the page to which it relates. 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■ Present them in a visually distinctive and noticeable manner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9438"/>
            <a:ext cx="8229600" cy="792162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Instructions , Text , Links</a:t>
            </a:r>
            <a:br>
              <a:rPr lang="en-US" sz="4000" dirty="0" smtClean="0">
                <a:latin typeface="Times New Roman" pitchFamily="18" charset="0"/>
                <a:cs typeface="Times New Roman" pitchFamily="18" charset="0"/>
              </a:rPr>
            </a:b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3837"/>
            <a:ext cx="8229600" cy="5059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Instructions:</a:t>
            </a:r>
          </a:p>
          <a:p>
            <a:pPr>
              <a:buNone/>
            </a:pPr>
            <a:r>
              <a:rPr lang="en-US" sz="2400" dirty="0" smtClean="0"/>
              <a:t>■ Do not use phrasing that indicates a certain page order or flow. </a:t>
            </a:r>
          </a:p>
          <a:p>
            <a:pPr>
              <a:buNone/>
            </a:pPr>
            <a:r>
              <a:rPr lang="en-US" sz="2400" dirty="0" smtClean="0"/>
              <a:t>■ Explain where “Up” leads too.</a:t>
            </a:r>
          </a:p>
          <a:p>
            <a:pPr>
              <a:buNone/>
            </a:pPr>
            <a:r>
              <a:rPr lang="en-US" sz="2400" dirty="0" smtClean="0"/>
              <a:t>■ Phrase them in a browser-independent manner. </a:t>
            </a:r>
          </a:p>
          <a:p>
            <a:pPr>
              <a:buNone/>
            </a:pPr>
            <a:r>
              <a:rPr lang="en-US" sz="2400" dirty="0" smtClean="0"/>
              <a:t>■ Minimize “Click here” instructions.</a:t>
            </a:r>
          </a:p>
          <a:p>
            <a:pPr>
              <a:buNone/>
            </a:pPr>
            <a:r>
              <a:rPr lang="en-US" sz="2400" dirty="0" smtClean="0"/>
              <a:t>Text: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Provide text that contrasts highly with the background.</a:t>
            </a:r>
          </a:p>
          <a:p>
            <a:pPr>
              <a:buNone/>
            </a:pPr>
            <a:r>
              <a:rPr lang="en-US" sz="2400" dirty="0" smtClean="0"/>
              <a:t>Links: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Create wording that makes links: </a:t>
            </a:r>
          </a:p>
          <a:p>
            <a:pPr>
              <a:buNone/>
            </a:pPr>
            <a:r>
              <a:rPr lang="en-US" sz="2400" dirty="0" smtClean="0"/>
              <a:t>— Descriptive. — Differentiable. — Predictive.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■ Create concisely worded links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Autofit/>
          </a:bodyPr>
          <a:lstStyle/>
          <a:p>
            <a:pPr lvl="1" algn="ctr"/>
            <a:r>
              <a:rPr lang="en-US" sz="3600" dirty="0" smtClean="0"/>
              <a:t>Page Title , Headings and Headlines</a:t>
            </a:r>
            <a:br>
              <a:rPr lang="en-US" sz="3600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7545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Page Title:</a:t>
            </a:r>
          </a:p>
          <a:p>
            <a:r>
              <a:rPr lang="en-US" sz="2400" dirty="0" smtClean="0"/>
              <a:t>Provide a page title</a:t>
            </a:r>
          </a:p>
          <a:p>
            <a:pPr>
              <a:buNone/>
            </a:pPr>
            <a:r>
              <a:rPr lang="en-US" sz="2400" dirty="0" smtClean="0"/>
              <a:t>— That possesses meaningful keywords. </a:t>
            </a:r>
          </a:p>
          <a:p>
            <a:pPr>
              <a:buNone/>
            </a:pPr>
            <a:r>
              <a:rPr lang="en-US" sz="2400" dirty="0" smtClean="0"/>
              <a:t>— Whose first word is its most important descriptor.</a:t>
            </a:r>
          </a:p>
          <a:p>
            <a:pPr>
              <a:buNone/>
            </a:pPr>
            <a:r>
              <a:rPr lang="en-US" sz="2400" dirty="0" smtClean="0"/>
              <a:t>— That makes sense when viewed completely out of context. </a:t>
            </a:r>
            <a:endParaRPr lang="en-US" sz="2400" dirty="0"/>
          </a:p>
          <a:p>
            <a:pPr>
              <a:buNone/>
            </a:pPr>
            <a:r>
              <a:rPr lang="en-US" sz="2400" dirty="0" smtClean="0"/>
              <a:t>— That is different from other page titles. </a:t>
            </a:r>
          </a:p>
          <a:p>
            <a:pPr>
              <a:buNone/>
            </a:pPr>
            <a:r>
              <a:rPr lang="en-US" sz="2400" dirty="0" smtClean="0"/>
              <a:t>— Is written in mixed case using the headline style.</a:t>
            </a:r>
          </a:p>
          <a:p>
            <a:pPr>
              <a:buNone/>
            </a:pPr>
            <a:r>
              <a:rPr lang="en-US" sz="2400" b="1" dirty="0" smtClean="0"/>
              <a:t>Headings and Headlines</a:t>
            </a:r>
          </a:p>
          <a:p>
            <a:r>
              <a:rPr lang="en-US" sz="2400" dirty="0" smtClean="0"/>
              <a:t>Create meaningful headings and headlines that quickly communicate the content of what follows. — Make the first word an important information-carrying one. — Skip leading articles (the and a). </a:t>
            </a:r>
          </a:p>
          <a:p>
            <a:r>
              <a:rPr lang="en-US" sz="2400" dirty="0" smtClean="0"/>
              <a:t>Create meaningful subheadings to break up large blocks of text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4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Provide Effective Feedback and Guidance and Assistance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Feedback topics:</a:t>
            </a:r>
          </a:p>
          <a:p>
            <a:r>
              <a:rPr lang="en-US" dirty="0" smtClean="0"/>
              <a:t>Acceptable response times. </a:t>
            </a:r>
          </a:p>
          <a:p>
            <a:r>
              <a:rPr lang="en-US" dirty="0" smtClean="0"/>
              <a:t>Dealing with time delays. </a:t>
            </a:r>
          </a:p>
          <a:p>
            <a:r>
              <a:rPr lang="en-US" dirty="0" smtClean="0"/>
              <a:t>Blinking for attention. </a:t>
            </a:r>
          </a:p>
          <a:p>
            <a:r>
              <a:rPr lang="en-US" dirty="0" smtClean="0"/>
              <a:t>The use of sound. </a:t>
            </a:r>
          </a:p>
          <a:p>
            <a:pPr>
              <a:buNone/>
            </a:pPr>
            <a:r>
              <a:rPr lang="en-US" b="1" dirty="0"/>
              <a:t>G</a:t>
            </a:r>
            <a:r>
              <a:rPr lang="en-US" b="1" dirty="0" smtClean="0"/>
              <a:t>uidance and assistance:</a:t>
            </a:r>
          </a:p>
          <a:p>
            <a:r>
              <a:rPr lang="en-US" dirty="0" smtClean="0"/>
              <a:t>Preventing errors </a:t>
            </a:r>
          </a:p>
          <a:p>
            <a:r>
              <a:rPr lang="en-US" dirty="0" smtClean="0"/>
              <a:t>problem management.</a:t>
            </a:r>
          </a:p>
          <a:p>
            <a:r>
              <a:rPr lang="en-US" dirty="0" smtClean="0"/>
              <a:t>Providing  guidance and assistance</a:t>
            </a:r>
          </a:p>
          <a:p>
            <a:r>
              <a:rPr lang="en-US" dirty="0" smtClean="0"/>
              <a:t>Instructions or prompting</a:t>
            </a:r>
          </a:p>
          <a:p>
            <a:r>
              <a:rPr lang="en-US" dirty="0" smtClean="0"/>
              <a:t>Help facility</a:t>
            </a:r>
          </a:p>
          <a:p>
            <a:r>
              <a:rPr lang="en-US" dirty="0" smtClean="0"/>
              <a:t>Contextual Help</a:t>
            </a:r>
          </a:p>
          <a:p>
            <a:r>
              <a:rPr lang="en-US" dirty="0"/>
              <a:t>T</a:t>
            </a:r>
            <a:r>
              <a:rPr lang="en-US" dirty="0" smtClean="0"/>
              <a:t>ask-oriented Help. </a:t>
            </a:r>
          </a:p>
          <a:p>
            <a:r>
              <a:rPr lang="en-US" dirty="0" smtClean="0"/>
              <a:t>Reference Help</a:t>
            </a:r>
          </a:p>
          <a:p>
            <a:r>
              <a:rPr lang="en-US" dirty="0" smtClean="0"/>
              <a:t>Wizards</a:t>
            </a:r>
          </a:p>
          <a:p>
            <a:r>
              <a:rPr lang="en-US" dirty="0" smtClean="0"/>
              <a:t>Hints or tips.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Feedback topics:</a:t>
            </a:r>
            <a:br>
              <a:rPr lang="en-US" sz="3200" b="1" dirty="0" smtClean="0"/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Response Time , Dealing with Time Delays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Response Time: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System responsiveness should match the speed and flow of human thought processes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Constant delays are preferable to variable delays.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Dealing with Time Delays: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Button click acknowledgement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Waits up to 10 seconds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Waits up to 10 seconds to 1 minute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Waits over 1 minute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Long, invisible operations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Progress indicator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Blinking for attention , Use of sound</a:t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Blinking for attention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Attention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Auditory signal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Message display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Use of sound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Always use in conjunction with a visual indication.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no more than six different tones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 not use: — Jingles or tunes. — Loud signals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tones consistently.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Provide signal frequencies between 500 and 1,000 Hz.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Allow the user to adjust the volume or turn the sound off altogether.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Test the sounds with users over extended trial periods.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Guidance and assistance: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Preventing errors , problem management.</a:t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Preventing errors:</a:t>
            </a:r>
            <a:endParaRPr lang="en-US" dirty="0" smtClean="0"/>
          </a:p>
          <a:p>
            <a:r>
              <a:rPr lang="en-US" dirty="0" smtClean="0"/>
              <a:t>Errors can be classified as slips or mistakes.</a:t>
            </a:r>
          </a:p>
          <a:p>
            <a:r>
              <a:rPr lang="en-US" dirty="0" smtClean="0"/>
              <a:t>A mistake results from forming a wrong model or goal and then acting on it.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problem management:</a:t>
            </a:r>
          </a:p>
          <a:p>
            <a:r>
              <a:rPr lang="en-US" dirty="0" smtClean="0"/>
              <a:t>Prevention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Detection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correction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Providing Guidance and Assistance , Instructions or Prompting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Providing Guidance and Assistance:</a:t>
            </a:r>
          </a:p>
          <a:p>
            <a:r>
              <a:rPr lang="en-US" dirty="0" smtClean="0"/>
              <a:t>Problems with Documentation</a:t>
            </a:r>
          </a:p>
          <a:p>
            <a:r>
              <a:rPr lang="en-US" dirty="0" smtClean="0"/>
              <a:t>How Users Interact with Documentation</a:t>
            </a:r>
          </a:p>
          <a:p>
            <a:pPr>
              <a:buNone/>
            </a:pPr>
            <a:r>
              <a:rPr lang="en-US" b="1" dirty="0" smtClean="0"/>
              <a:t>Instructions or Prompting:</a:t>
            </a:r>
          </a:p>
          <a:p>
            <a:r>
              <a:rPr lang="en-US" dirty="0" smtClean="0"/>
              <a:t>Instructional or prompting information is placed within the body of a screen. It may take the form of messages or other advice, such as the values to be keyed into a field. Prompting is provided to assist a person in providing what is necessary to complete a screen.</a:t>
            </a: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Help Facility , Contextual Help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Help Facility:</a:t>
            </a:r>
          </a:p>
          <a:p>
            <a:r>
              <a:rPr lang="en-US" dirty="0" smtClean="0"/>
              <a:t>Kind</a:t>
            </a:r>
          </a:p>
          <a:p>
            <a:r>
              <a:rPr lang="en-US" dirty="0" smtClean="0"/>
              <a:t>Training</a:t>
            </a:r>
          </a:p>
          <a:p>
            <a:r>
              <a:rPr lang="en-US" dirty="0" smtClean="0"/>
              <a:t>Availability</a:t>
            </a:r>
          </a:p>
          <a:p>
            <a:r>
              <a:rPr lang="en-US" dirty="0" smtClean="0"/>
              <a:t>Structure</a:t>
            </a:r>
          </a:p>
          <a:p>
            <a:r>
              <a:rPr lang="en-US" dirty="0" smtClean="0"/>
              <a:t>Interaction</a:t>
            </a:r>
          </a:p>
          <a:p>
            <a:r>
              <a:rPr lang="en-US" dirty="0" smtClean="0"/>
              <a:t>Location</a:t>
            </a:r>
          </a:p>
          <a:p>
            <a:r>
              <a:rPr lang="en-US" dirty="0" smtClean="0"/>
              <a:t>Content</a:t>
            </a:r>
          </a:p>
          <a:p>
            <a:r>
              <a:rPr lang="en-US" dirty="0" smtClean="0"/>
              <a:t>Style</a:t>
            </a:r>
          </a:p>
          <a:p>
            <a:pPr>
              <a:buNone/>
            </a:pPr>
            <a:r>
              <a:rPr lang="en-US" b="1" dirty="0" smtClean="0"/>
              <a:t>Contextual Help:</a:t>
            </a:r>
          </a:p>
          <a:p>
            <a:r>
              <a:rPr lang="en-US" dirty="0" smtClean="0"/>
              <a:t>Help Command Button</a:t>
            </a:r>
          </a:p>
          <a:p>
            <a:r>
              <a:rPr lang="en-US" dirty="0" smtClean="0"/>
              <a:t>Status Bar Message</a:t>
            </a:r>
          </a:p>
          <a:p>
            <a:r>
              <a:rPr lang="en-US" dirty="0" smtClean="0"/>
              <a:t>Tooltip</a:t>
            </a:r>
          </a:p>
          <a:p>
            <a:r>
              <a:rPr lang="en-US" dirty="0" smtClean="0"/>
              <a:t>Task-Oriented Help</a:t>
            </a:r>
          </a:p>
          <a:p>
            <a:r>
              <a:rPr lang="en-US" dirty="0" smtClean="0"/>
              <a:t>Reference Help</a:t>
            </a:r>
          </a:p>
          <a:p>
            <a:r>
              <a:rPr lang="en-US" dirty="0" smtClean="0"/>
              <a:t>Wizards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Hints or Tips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Description: — A command button labeled Hints or Tips. </a:t>
            </a:r>
          </a:p>
          <a:p>
            <a:pPr>
              <a:buNone/>
            </a:pPr>
            <a:r>
              <a:rPr lang="en-US" dirty="0" smtClean="0"/>
              <a:t>■ Purpose: </a:t>
            </a:r>
          </a:p>
          <a:p>
            <a:pPr>
              <a:buNone/>
            </a:pPr>
            <a:r>
              <a:rPr lang="en-US" dirty="0" smtClean="0"/>
              <a:t>— To provide a few important contextual, but specific, items of information related to a displayed screen.</a:t>
            </a:r>
          </a:p>
          <a:p>
            <a:pPr>
              <a:buNone/>
            </a:pPr>
            <a:r>
              <a:rPr lang="en-US" dirty="0" smtClean="0"/>
              <a:t>■ Design guidelines: — Provide guidance on only two or three important points. — Locate the button near where its guidance applies. — Write concisely and to the point.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4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Provide Effective Internationalization and Accessibility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Provide Effective Internationalization and Accessibility</a:t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International Considerations: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Internationalization is the process of isolating culturally specific elements from a product.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Localization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Words and Text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Images and Symbols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Color, Sequence, and Functionality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Requirements Determination and Testing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Localization , Words and Text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Localization: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to do it: — When the market includes few or no English speakers. — When translation is required by law or by custom. — When the widest possible market is desired.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When not to do it: — When the audience already reads English. — When the cost of retrofitting or rewriting the software is prohibitive.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Words and Text: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Simple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nglish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Avoid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Local Language’s Idioms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Original term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Additional Screen Space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Images and Symbols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3837"/>
            <a:ext cx="8229600" cy="48307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Adhere to local cultural and social norms.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internationally accepted symbols.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Develop generic images.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 particularly careful with: — Religious symbols (crosses and stars). — The human body. — Women. — Hand gestures. — Flags. — The cross and check for check boxes.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Review proposed graphical images early in the design cycle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Color, Sequence, and Functionality , Requirements Determination and Testing:</a:t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Color, Sequence, and Functionality: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Adhere to local color connotations and conventions.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Provide the proper information sequence.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Provide the proper functionality.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Remove all references to features not supported.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Requirements Determination and Testing: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■ Establish international requirements at the beginning of product development.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■ Establish a relationship within the target culture.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■ Test the product as if it were new.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Accessibility, in a general sense, means a system must be designed to be usable by an almost unlimited range of people, essentially anyone who desires to use it.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Minimize all barriers that make a system difficult, or impossible, to use.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Provide compatibility with installed accessibility utilities.</a:t>
            </a:r>
          </a:p>
          <a:p>
            <a:pPr lvl="4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Types of Disabilities</a:t>
            </a:r>
          </a:p>
          <a:p>
            <a:pPr lvl="4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Accessibility Design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pPr lvl="4" algn="ctr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Types of Disabilities and Accessibility Design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Types of Disabilities: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categories: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visual, hearing, physical movement, speech or language impairments, cognitive disorders, and seizure disorders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Accessibility Design: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 accessibility issues during system planning, design, and testing.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Provide compatibility with installed accessibility utilities.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Provide a customizable interface.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Follow standard Windows conventions.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standard Windows controls.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Create Meaningful Graphics, Icons and Images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/>
              <a:t>Kinds of Icons </a:t>
            </a:r>
          </a:p>
          <a:p>
            <a:r>
              <a:rPr lang="en-US" dirty="0" smtClean="0"/>
              <a:t>Characteristics of Icons</a:t>
            </a:r>
          </a:p>
          <a:p>
            <a:r>
              <a:rPr lang="en-US" dirty="0" smtClean="0"/>
              <a:t>Influences on Icon Usability</a:t>
            </a:r>
          </a:p>
          <a:p>
            <a:r>
              <a:rPr lang="en-US" dirty="0" smtClean="0"/>
              <a:t>Choosing Icons </a:t>
            </a:r>
          </a:p>
          <a:p>
            <a:r>
              <a:rPr lang="en-US" dirty="0" smtClean="0"/>
              <a:t>Choosing Images </a:t>
            </a:r>
          </a:p>
          <a:p>
            <a:r>
              <a:rPr lang="en-US" dirty="0" smtClean="0"/>
              <a:t>Creating Images </a:t>
            </a:r>
          </a:p>
          <a:p>
            <a:r>
              <a:rPr lang="en-US" dirty="0" smtClean="0"/>
              <a:t>Drawing Images </a:t>
            </a:r>
          </a:p>
          <a:p>
            <a:r>
              <a:rPr lang="en-US" dirty="0" smtClean="0"/>
              <a:t>Icon Animation and Audition </a:t>
            </a:r>
          </a:p>
          <a:p>
            <a:r>
              <a:rPr lang="en-US" dirty="0" smtClean="0"/>
              <a:t>The Design Process </a:t>
            </a:r>
          </a:p>
          <a:p>
            <a:r>
              <a:rPr lang="en-US" dirty="0" smtClean="0"/>
              <a:t>Screen Presentation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762000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Kinds of Icons , Characteristics of Icons</a:t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Kinds of Icons: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Resemblance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Symbolic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Exemplar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Arbitrary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Analogy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Characteristics of Icons: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An icon possesses the technical qualities of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syntactics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semantics, and pragmatics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Influences on Icon Usability ,Choosing Icons </a:t>
            </a:r>
            <a:br>
              <a:rPr lang="en-US" sz="3200" dirty="0" smtClean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229600" cy="50593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Influences on Icon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Usability: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Provide icons that are: — Familiar. — Clear and Legible. — Simple. — Consistent. — Direct. — Efficient. —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Discriminable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consider the: — Context in which the icon is used. — Expectancies of users. — Complexity of task.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Choosing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Icons: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Looks different from all other icons.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obvious what it does or represents.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recognizable when no larger than 16 pixels square.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Looks as good in black and white as in color.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Choosing Images , Creating Images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Choosing Images:</a:t>
            </a:r>
          </a:p>
          <a:p>
            <a:r>
              <a:rPr lang="en-US" dirty="0" smtClean="0"/>
              <a:t>Use existing icons when available. </a:t>
            </a:r>
          </a:p>
          <a:p>
            <a:r>
              <a:rPr lang="en-US" dirty="0" smtClean="0"/>
              <a:t>Use images for nouns, not verbs. </a:t>
            </a:r>
          </a:p>
          <a:p>
            <a:r>
              <a:rPr lang="en-US" dirty="0" smtClean="0"/>
              <a:t>Use traditional images. </a:t>
            </a:r>
          </a:p>
          <a:p>
            <a:r>
              <a:rPr lang="en-US" dirty="0" smtClean="0"/>
              <a:t>Consider user cultural and social norms.</a:t>
            </a:r>
          </a:p>
          <a:p>
            <a:pPr>
              <a:buNone/>
            </a:pPr>
            <a:r>
              <a:rPr lang="en-US" b="1" dirty="0" smtClean="0"/>
              <a:t>Creating Images:</a:t>
            </a:r>
          </a:p>
          <a:p>
            <a:r>
              <a:rPr lang="en-US" dirty="0" smtClean="0"/>
              <a:t>Create familiar and concrete shapes. </a:t>
            </a:r>
          </a:p>
          <a:p>
            <a:r>
              <a:rPr lang="en-US" dirty="0" smtClean="0"/>
              <a:t>Create visually and conceptually distinct shapes</a:t>
            </a:r>
          </a:p>
          <a:p>
            <a:r>
              <a:rPr lang="en-US" dirty="0" smtClean="0"/>
              <a:t>Clearly reflect objects represented. </a:t>
            </a:r>
          </a:p>
          <a:p>
            <a:r>
              <a:rPr lang="en-US" dirty="0" smtClean="0"/>
              <a:t>Simply reflect objects represented, avoiding excessive detail. </a:t>
            </a:r>
          </a:p>
          <a:p>
            <a:r>
              <a:rPr lang="en-US" dirty="0" smtClean="0"/>
              <a:t>Create as a set, communicating relationships to one another through common shapes. </a:t>
            </a:r>
          </a:p>
          <a:p>
            <a:r>
              <a:rPr lang="en-US" dirty="0" smtClean="0"/>
              <a:t>Provide consistency in icon type. </a:t>
            </a:r>
          </a:p>
          <a:p>
            <a:r>
              <a:rPr lang="en-US" dirty="0" smtClean="0"/>
              <a:t>Create shapes of the proper emotional tone.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Drawing Images , Icon Animation and Audition </a:t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Drawing Images :</a:t>
            </a:r>
          </a:p>
          <a:p>
            <a:r>
              <a:rPr lang="en-US" dirty="0" smtClean="0"/>
              <a:t>Provide consistency in shape over varying sizes. </a:t>
            </a:r>
            <a:endParaRPr lang="en-US" dirty="0"/>
          </a:p>
          <a:p>
            <a:r>
              <a:rPr lang="en-US" dirty="0" smtClean="0"/>
              <a:t>Do not use triangular arrows in design to avoid confusion with other system symbols. </a:t>
            </a:r>
            <a:endParaRPr lang="en-US" dirty="0"/>
          </a:p>
          <a:p>
            <a:r>
              <a:rPr lang="en-US" dirty="0" smtClean="0"/>
              <a:t>When icons are used to reflect varying attributes, express these attributes as meaningfully as possible. </a:t>
            </a:r>
          </a:p>
          <a:p>
            <a:r>
              <a:rPr lang="en-US" dirty="0" smtClean="0"/>
              <a:t>Provide proper scale and orientation. </a:t>
            </a:r>
          </a:p>
          <a:p>
            <a:r>
              <a:rPr lang="en-US" dirty="0" smtClean="0"/>
              <a:t>Use perspective and dimension whenever possible. </a:t>
            </a:r>
          </a:p>
          <a:p>
            <a:r>
              <a:rPr lang="en-US" dirty="0" smtClean="0"/>
              <a:t>Accompany icon with a label to assure intended meaning.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Icon Animation and Audition :</a:t>
            </a:r>
          </a:p>
          <a:p>
            <a:pPr>
              <a:buNone/>
            </a:pPr>
            <a:r>
              <a:rPr lang="en-US" dirty="0" smtClean="0"/>
              <a:t>■ Animation: — Use: • To provide feedback. • For visual interest</a:t>
            </a:r>
          </a:p>
          <a:p>
            <a:pPr>
              <a:buNone/>
            </a:pPr>
            <a:r>
              <a:rPr lang="en-US" dirty="0" smtClean="0"/>
              <a:t>■ Audition: — Consider auditory icons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The Design Process , Screen Presentation</a:t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The Design Process: </a:t>
            </a:r>
          </a:p>
          <a:p>
            <a:pPr>
              <a:buNone/>
            </a:pPr>
            <a:r>
              <a:rPr lang="en-US" dirty="0" smtClean="0"/>
              <a:t>■ Define the icon’s purpose and use. </a:t>
            </a:r>
          </a:p>
          <a:p>
            <a:pPr>
              <a:buNone/>
            </a:pPr>
            <a:r>
              <a:rPr lang="en-US" dirty="0" smtClean="0"/>
              <a:t>■ Collect, evaluate, and sketch ideas. </a:t>
            </a:r>
          </a:p>
          <a:p>
            <a:pPr>
              <a:buNone/>
            </a:pPr>
            <a:r>
              <a:rPr lang="en-US" dirty="0" smtClean="0"/>
              <a:t>■ Draw in black and white. </a:t>
            </a:r>
          </a:p>
          <a:p>
            <a:pPr>
              <a:buNone/>
            </a:pPr>
            <a:r>
              <a:rPr lang="en-US" dirty="0" smtClean="0"/>
              <a:t>■ Draw using an icon-editing utility or drawing package. </a:t>
            </a:r>
          </a:p>
          <a:p>
            <a:pPr>
              <a:buNone/>
            </a:pPr>
            <a:r>
              <a:rPr lang="en-US" dirty="0" smtClean="0"/>
              <a:t>■ Test for user</a:t>
            </a:r>
          </a:p>
          <a:p>
            <a:pPr>
              <a:buNone/>
            </a:pPr>
            <a:r>
              <a:rPr lang="en-US" dirty="0" smtClean="0"/>
              <a:t>■ Test for legibility. </a:t>
            </a:r>
          </a:p>
          <a:p>
            <a:pPr>
              <a:buNone/>
            </a:pPr>
            <a:r>
              <a:rPr lang="en-US" dirty="0" smtClean="0"/>
              <a:t>■ Register new icons in the system’s registry.</a:t>
            </a:r>
          </a:p>
          <a:p>
            <a:pPr>
              <a:buNone/>
            </a:pPr>
            <a:r>
              <a:rPr lang="en-US" b="1" dirty="0" smtClean="0"/>
              <a:t>Screen Presentation: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Follow all relevant general guidelines for screen design. </a:t>
            </a:r>
          </a:p>
          <a:p>
            <a:pPr>
              <a:buNone/>
            </a:pPr>
            <a:r>
              <a:rPr lang="en-US" dirty="0" smtClean="0"/>
              <a:t>■ Limit the number of symbols to 12, if possible, and at most 20. </a:t>
            </a:r>
          </a:p>
          <a:p>
            <a:pPr>
              <a:buNone/>
            </a:pPr>
            <a:r>
              <a:rPr lang="en-US" dirty="0" smtClean="0"/>
              <a:t>■ Arrange icons.</a:t>
            </a:r>
          </a:p>
          <a:p>
            <a:pPr>
              <a:buNone/>
            </a:pPr>
            <a:r>
              <a:rPr lang="en-US" dirty="0" smtClean="0"/>
              <a:t>■ Place object and action icons in different groups. </a:t>
            </a:r>
          </a:p>
          <a:p>
            <a:pPr>
              <a:buNone/>
            </a:pPr>
            <a:r>
              <a:rPr lang="en-US" dirty="0" smtClean="0"/>
              <a:t>■ Present an interactive icon as a raised screen element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multimedia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/>
              <a:t>Graphics</a:t>
            </a:r>
          </a:p>
          <a:p>
            <a:r>
              <a:rPr lang="en-US" dirty="0" smtClean="0"/>
              <a:t>Images</a:t>
            </a:r>
          </a:p>
          <a:p>
            <a:r>
              <a:rPr lang="en-US" dirty="0" smtClean="0"/>
              <a:t>Photographs/pictures</a:t>
            </a:r>
          </a:p>
          <a:p>
            <a:r>
              <a:rPr lang="en-US" dirty="0" smtClean="0"/>
              <a:t>Videos</a:t>
            </a:r>
          </a:p>
          <a:p>
            <a:r>
              <a:rPr lang="en-US" dirty="0" smtClean="0"/>
              <a:t>Diagrams</a:t>
            </a:r>
          </a:p>
          <a:p>
            <a:r>
              <a:rPr lang="en-US" dirty="0" smtClean="0"/>
              <a:t>Drawings</a:t>
            </a:r>
          </a:p>
          <a:p>
            <a:r>
              <a:rPr lang="en-US" dirty="0" smtClean="0"/>
              <a:t>Animation</a:t>
            </a:r>
          </a:p>
          <a:p>
            <a:r>
              <a:rPr lang="en-US" dirty="0" smtClean="0"/>
              <a:t>Audition</a:t>
            </a:r>
          </a:p>
          <a:p>
            <a:r>
              <a:rPr lang="en-US" dirty="0" smtClean="0"/>
              <a:t>Combining mediums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295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Graphics , Images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Graphics: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graphics to: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Presenting a site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overview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Identifying site pages.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Identifying content areas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■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Limit the use of graphics that take a long time to load.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■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Coordinate the graphics with all other page elements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Images: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General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Color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Format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Internationalization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Screen shot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Photographs/pictures , Videos, </a:t>
            </a:r>
            <a:r>
              <a:rPr lang="en-US" dirty="0" smtClean="0"/>
              <a:t>Diagrams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Photographs:</a:t>
            </a:r>
          </a:p>
          <a:p>
            <a:r>
              <a:rPr lang="en-US" dirty="0" smtClean="0"/>
              <a:t>Use</a:t>
            </a:r>
          </a:p>
          <a:p>
            <a:r>
              <a:rPr lang="en-US" dirty="0" smtClean="0"/>
              <a:t>Guidelines</a:t>
            </a:r>
          </a:p>
          <a:p>
            <a:pPr>
              <a:buNone/>
            </a:pPr>
            <a:r>
              <a:rPr lang="en-US" b="1" dirty="0" smtClean="0"/>
              <a:t>Pictures videos:</a:t>
            </a:r>
          </a:p>
          <a:p>
            <a:r>
              <a:rPr lang="en-US" dirty="0" smtClean="0"/>
              <a:t>Use</a:t>
            </a:r>
          </a:p>
          <a:p>
            <a:r>
              <a:rPr lang="en-US" dirty="0" smtClean="0"/>
              <a:t>disadvantages</a:t>
            </a:r>
            <a:endParaRPr lang="en-US" dirty="0" smtClean="0"/>
          </a:p>
          <a:p>
            <a:r>
              <a:rPr lang="en-US" dirty="0" smtClean="0"/>
              <a:t>Guidelines</a:t>
            </a:r>
          </a:p>
          <a:p>
            <a:pPr>
              <a:buNone/>
            </a:pPr>
            <a:r>
              <a:rPr lang="en-US" b="1" dirty="0" smtClean="0"/>
              <a:t>Diagrams:</a:t>
            </a:r>
          </a:p>
          <a:p>
            <a:r>
              <a:rPr lang="en-US" dirty="0" smtClean="0"/>
              <a:t>Use</a:t>
            </a:r>
          </a:p>
          <a:p>
            <a:r>
              <a:rPr lang="en-US" dirty="0" smtClean="0"/>
              <a:t>Guidelines</a:t>
            </a:r>
            <a:endParaRPr lang="en-US" dirty="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Drawings , Animation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Drawings:</a:t>
            </a:r>
          </a:p>
          <a:p>
            <a:r>
              <a:rPr lang="en-US" dirty="0" smtClean="0"/>
              <a:t>Use</a:t>
            </a:r>
            <a:endParaRPr lang="en-US" dirty="0" smtClean="0"/>
          </a:p>
          <a:p>
            <a:r>
              <a:rPr lang="en-US" dirty="0" smtClean="0"/>
              <a:t>Guidelines</a:t>
            </a:r>
          </a:p>
          <a:p>
            <a:pPr>
              <a:buNone/>
            </a:pPr>
            <a:r>
              <a:rPr lang="en-US" dirty="0" smtClean="0"/>
              <a:t>Animation:</a:t>
            </a:r>
          </a:p>
          <a:p>
            <a:r>
              <a:rPr lang="en-US" dirty="0" smtClean="0"/>
              <a:t>Use</a:t>
            </a:r>
            <a:endParaRPr lang="en-US" dirty="0" smtClean="0"/>
          </a:p>
          <a:p>
            <a:r>
              <a:rPr lang="en-US" dirty="0" smtClean="0"/>
              <a:t>disadvantages</a:t>
            </a:r>
          </a:p>
          <a:p>
            <a:r>
              <a:rPr lang="en-US" dirty="0" smtClean="0"/>
              <a:t>Guidelines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Audition , Combining </a:t>
            </a:r>
            <a:r>
              <a:rPr lang="en-US" dirty="0" smtClean="0"/>
              <a:t>mediums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Audition</a:t>
            </a:r>
          </a:p>
          <a:p>
            <a:r>
              <a:rPr lang="en-US" dirty="0" smtClean="0"/>
              <a:t>Use</a:t>
            </a:r>
          </a:p>
          <a:p>
            <a:r>
              <a:rPr lang="en-US" dirty="0" smtClean="0"/>
              <a:t>advantage</a:t>
            </a:r>
            <a:endParaRPr lang="en-US" dirty="0" smtClean="0"/>
          </a:p>
          <a:p>
            <a:r>
              <a:rPr lang="en-US" dirty="0" smtClean="0"/>
              <a:t>disadvantages</a:t>
            </a:r>
          </a:p>
          <a:p>
            <a:r>
              <a:rPr lang="en-US" dirty="0" smtClean="0"/>
              <a:t>Guidelines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Combining mediums</a:t>
            </a:r>
          </a:p>
          <a:p>
            <a:r>
              <a:rPr lang="en-US" dirty="0" smtClean="0"/>
              <a:t>Combinations</a:t>
            </a:r>
            <a:endParaRPr lang="en-US" dirty="0" smtClean="0"/>
          </a:p>
          <a:p>
            <a:r>
              <a:rPr lang="en-US" dirty="0" smtClean="0"/>
              <a:t>Integration</a:t>
            </a:r>
            <a:endParaRPr lang="en-US" dirty="0" smtClean="0"/>
          </a:p>
          <a:p>
            <a:r>
              <a:rPr lang="en-US" dirty="0" smtClean="0"/>
              <a:t>Relevance </a:t>
            </a:r>
            <a:endParaRPr lang="en-US" dirty="0" smtClean="0"/>
          </a:p>
          <a:p>
            <a:r>
              <a:rPr lang="en-US" dirty="0" smtClean="0"/>
              <a:t>Presentation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Choose </a:t>
            </a:r>
            <a:r>
              <a:rPr lang="en-US" dirty="0" smtClean="0"/>
              <a:t>the Proper Colors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Color and color values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Color:</a:t>
            </a:r>
            <a:endParaRPr lang="en-US" b="1" dirty="0" smtClean="0"/>
          </a:p>
          <a:p>
            <a:r>
              <a:rPr lang="en-US" dirty="0" smtClean="0"/>
              <a:t>RGB</a:t>
            </a:r>
          </a:p>
          <a:p>
            <a:r>
              <a:rPr lang="en-US" dirty="0" smtClean="0"/>
              <a:t>HSV</a:t>
            </a:r>
          </a:p>
          <a:p>
            <a:r>
              <a:rPr lang="en-US" dirty="0" smtClean="0"/>
              <a:t>Dithering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color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values:</a:t>
            </a:r>
          </a:p>
          <a:p>
            <a:pPr>
              <a:buNone/>
            </a:pPr>
            <a:r>
              <a:rPr lang="en-US" dirty="0" smtClean="0"/>
              <a:t>Use color to assist in formatting a </a:t>
            </a:r>
            <a:r>
              <a:rPr lang="en-US" dirty="0" smtClean="0"/>
              <a:t>screen</a:t>
            </a:r>
          </a:p>
          <a:p>
            <a:pPr>
              <a:buNone/>
            </a:pPr>
            <a:r>
              <a:rPr lang="en-US" dirty="0" smtClean="0"/>
              <a:t>Use color as a visual code to </a:t>
            </a:r>
            <a:r>
              <a:rPr lang="en-US" dirty="0" smtClean="0"/>
              <a:t>identify</a:t>
            </a:r>
          </a:p>
          <a:p>
            <a:pPr>
              <a:buNone/>
            </a:pPr>
            <a:r>
              <a:rPr lang="en-US" dirty="0" smtClean="0"/>
              <a:t>Use color to: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— </a:t>
            </a:r>
            <a:r>
              <a:rPr lang="en-US" dirty="0" smtClean="0"/>
              <a:t>Realistically portray natural objects.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— </a:t>
            </a:r>
            <a:r>
              <a:rPr lang="en-US" dirty="0" smtClean="0"/>
              <a:t>Increase screen appeal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Choosing Colors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Choosing </a:t>
            </a:r>
            <a:r>
              <a:rPr lang="en-US" dirty="0" smtClean="0"/>
              <a:t>Colors for Categories of </a:t>
            </a:r>
            <a:r>
              <a:rPr lang="en-US" dirty="0" smtClean="0"/>
              <a:t>Information</a:t>
            </a:r>
          </a:p>
          <a:p>
            <a:r>
              <a:rPr lang="en-US" dirty="0" smtClean="0"/>
              <a:t> </a:t>
            </a:r>
            <a:r>
              <a:rPr lang="en-US" dirty="0" smtClean="0"/>
              <a:t>Colors in Context </a:t>
            </a:r>
            <a:endParaRPr lang="en-US" dirty="0" smtClean="0"/>
          </a:p>
          <a:p>
            <a:r>
              <a:rPr lang="en-US" dirty="0" smtClean="0"/>
              <a:t>Usage </a:t>
            </a:r>
          </a:p>
          <a:p>
            <a:r>
              <a:rPr lang="en-US" dirty="0" smtClean="0"/>
              <a:t>Discrimination </a:t>
            </a:r>
            <a:r>
              <a:rPr lang="en-US" dirty="0" smtClean="0"/>
              <a:t>and </a:t>
            </a:r>
            <a:r>
              <a:rPr lang="en-US" dirty="0" smtClean="0"/>
              <a:t>Harmony</a:t>
            </a:r>
            <a:endParaRPr lang="en-US" dirty="0" smtClean="0"/>
          </a:p>
          <a:p>
            <a:r>
              <a:rPr lang="en-US" dirty="0" smtClean="0"/>
              <a:t>Emphasis </a:t>
            </a:r>
          </a:p>
          <a:p>
            <a:r>
              <a:rPr lang="en-US" dirty="0" smtClean="0"/>
              <a:t>Common </a:t>
            </a:r>
            <a:r>
              <a:rPr lang="en-US" dirty="0" smtClean="0"/>
              <a:t>Meanings </a:t>
            </a:r>
          </a:p>
          <a:p>
            <a:r>
              <a:rPr lang="en-US" dirty="0" smtClean="0"/>
              <a:t>Location </a:t>
            </a:r>
          </a:p>
          <a:p>
            <a:r>
              <a:rPr lang="en-US" dirty="0" smtClean="0"/>
              <a:t>Ordering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Choosing </a:t>
            </a:r>
            <a:r>
              <a:rPr lang="en-US" dirty="0" smtClean="0"/>
              <a:t>Colors for Textual Graphic Screens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Effective </a:t>
            </a:r>
            <a:r>
              <a:rPr lang="en-US" dirty="0" smtClean="0"/>
              <a:t>Foreground/Background Combinations </a:t>
            </a:r>
            <a:endParaRPr lang="en-US" dirty="0" smtClean="0"/>
          </a:p>
          <a:p>
            <a:r>
              <a:rPr lang="en-US" dirty="0" smtClean="0"/>
              <a:t>Choose </a:t>
            </a:r>
            <a:r>
              <a:rPr lang="en-US" dirty="0" smtClean="0"/>
              <a:t>the Background First </a:t>
            </a:r>
            <a:endParaRPr lang="en-US" dirty="0" smtClean="0"/>
          </a:p>
          <a:p>
            <a:r>
              <a:rPr lang="en-US" dirty="0" smtClean="0"/>
              <a:t>Maximum </a:t>
            </a:r>
            <a:r>
              <a:rPr lang="en-US" dirty="0" smtClean="0"/>
              <a:t>of Four Colors </a:t>
            </a:r>
            <a:endParaRPr lang="en-US" dirty="0" smtClean="0"/>
          </a:p>
          <a:p>
            <a:r>
              <a:rPr lang="en-US" dirty="0" smtClean="0"/>
              <a:t>Use </a:t>
            </a:r>
            <a:r>
              <a:rPr lang="en-US" dirty="0" smtClean="0"/>
              <a:t>Colors in Toolbars Sparingly </a:t>
            </a:r>
            <a:endParaRPr lang="en-US" dirty="0" smtClean="0"/>
          </a:p>
          <a:p>
            <a:r>
              <a:rPr lang="en-US" dirty="0" smtClean="0"/>
              <a:t>Test </a:t>
            </a:r>
            <a:r>
              <a:rPr lang="en-US" dirty="0" smtClean="0"/>
              <a:t>the Colors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Choosing Colors for Statistical Graphics Screens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Emphasis </a:t>
            </a:r>
          </a:p>
          <a:p>
            <a:r>
              <a:rPr lang="en-US" dirty="0" smtClean="0"/>
              <a:t>Number </a:t>
            </a:r>
            <a:r>
              <a:rPr lang="en-US" dirty="0" smtClean="0"/>
              <a:t>of Colors </a:t>
            </a:r>
            <a:r>
              <a:rPr lang="en-US" dirty="0" smtClean="0"/>
              <a:t> </a:t>
            </a:r>
          </a:p>
          <a:p>
            <a:r>
              <a:rPr lang="en-US" dirty="0" smtClean="0"/>
              <a:t>Backgrounds </a:t>
            </a:r>
          </a:p>
          <a:p>
            <a:r>
              <a:rPr lang="en-US" dirty="0" smtClean="0"/>
              <a:t>Size </a:t>
            </a:r>
          </a:p>
          <a:p>
            <a:r>
              <a:rPr lang="en-US" dirty="0" smtClean="0"/>
              <a:t>Status </a:t>
            </a:r>
          </a:p>
          <a:p>
            <a:r>
              <a:rPr lang="en-US" dirty="0" smtClean="0"/>
              <a:t>Measurements </a:t>
            </a:r>
            <a:r>
              <a:rPr lang="en-US" dirty="0" smtClean="0"/>
              <a:t>and Area-Fill </a:t>
            </a:r>
            <a:r>
              <a:rPr lang="en-US" dirty="0" smtClean="0"/>
              <a:t>Patterns</a:t>
            </a:r>
          </a:p>
          <a:p>
            <a:r>
              <a:rPr lang="en-US" dirty="0" smtClean="0"/>
              <a:t>Physical </a:t>
            </a:r>
            <a:r>
              <a:rPr lang="en-US" dirty="0" smtClean="0"/>
              <a:t>Impressions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1752</Words>
  <Application>Microsoft Office PowerPoint</Application>
  <PresentationFormat>On-screen Show (4:3)</PresentationFormat>
  <Paragraphs>342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Multimedia Unit 4</vt:lpstr>
      <vt:lpstr>Text for web pages</vt:lpstr>
      <vt:lpstr>Words , Error Messages</vt:lpstr>
      <vt:lpstr>Instructions , Text , Links </vt:lpstr>
      <vt:lpstr>Page Title , Headings and Headlines </vt:lpstr>
      <vt:lpstr>Slide 6</vt:lpstr>
      <vt:lpstr>Topics:</vt:lpstr>
      <vt:lpstr>Feedback topics: Response Time , Dealing with Time Delays</vt:lpstr>
      <vt:lpstr>Blinking for attention , Use of sound </vt:lpstr>
      <vt:lpstr>Guidance and assistance: Preventing errors , problem management. </vt:lpstr>
      <vt:lpstr>Providing Guidance and Assistance , Instructions or Prompting</vt:lpstr>
      <vt:lpstr>Help Facility , Contextual Help</vt:lpstr>
      <vt:lpstr>Hints or Tips</vt:lpstr>
      <vt:lpstr>Slide 14</vt:lpstr>
      <vt:lpstr>Provide Effective Internationalization and Accessibility </vt:lpstr>
      <vt:lpstr>Localization , Words and Text </vt:lpstr>
      <vt:lpstr>Images and Symbols</vt:lpstr>
      <vt:lpstr>Color, Sequence, and Functionality , Requirements Determination and Testing:  </vt:lpstr>
      <vt:lpstr>Accessibility</vt:lpstr>
      <vt:lpstr>Types of Disabilities and Accessibility Design </vt:lpstr>
      <vt:lpstr>Slide 21</vt:lpstr>
      <vt:lpstr>Icons</vt:lpstr>
      <vt:lpstr>Kinds of Icons , Characteristics of Icons </vt:lpstr>
      <vt:lpstr>Influences on Icon Usability ,Choosing Icons  </vt:lpstr>
      <vt:lpstr>Choosing Images , Creating Images  </vt:lpstr>
      <vt:lpstr>Drawing Images , Icon Animation and Audition  </vt:lpstr>
      <vt:lpstr>The Design Process , Screen Presentation </vt:lpstr>
      <vt:lpstr>multimedia</vt:lpstr>
      <vt:lpstr>Graphics , Images </vt:lpstr>
      <vt:lpstr>  Photographs/pictures , Videos, Diagrams  </vt:lpstr>
      <vt:lpstr> Drawings , Animation </vt:lpstr>
      <vt:lpstr> Audition , Combining mediums </vt:lpstr>
      <vt:lpstr>Slide 33</vt:lpstr>
      <vt:lpstr>Color and color values</vt:lpstr>
      <vt:lpstr>Choosing Colors  </vt:lpstr>
      <vt:lpstr> Choosing Colors for Textual Graphic Screens  </vt:lpstr>
      <vt:lpstr>Choosing Colors for Statistical Graphics Screens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Unit 4</dc:title>
  <dc:creator>user</dc:creator>
  <cp:lastModifiedBy>Student</cp:lastModifiedBy>
  <cp:revision>20</cp:revision>
  <dcterms:created xsi:type="dcterms:W3CDTF">2019-11-29T15:55:54Z</dcterms:created>
  <dcterms:modified xsi:type="dcterms:W3CDTF">2019-11-30T10:21:23Z</dcterms:modified>
</cp:coreProperties>
</file>